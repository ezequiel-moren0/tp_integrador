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4630400" cy="8229600"/>
  <p:notesSz cx="8229600" cy="14630400"/>
  <p:embeddedFontLst>
    <p:embeddedFont>
      <p:font typeface="Inter"/>
      <p:regular r:id="rId34"/>
    </p:embeddedFont>
    <p:embeddedFont>
      <p:font typeface="Inter"/>
      <p:regular r:id="rId35"/>
    </p:embeddedFont>
    <p:embeddedFont>
      <p:font typeface="Inter"/>
      <p:regular r:id="rId36"/>
    </p:embeddedFont>
    <p:embeddedFont>
      <p:font typeface="Inter"/>
      <p:regular r:id="rId37"/>
    </p:embeddedFont>
    <p:embeddedFont>
      <p:font typeface="Inter"/>
      <p:regular r:id="rId38"/>
    </p:embeddedFont>
    <p:embeddedFont>
      <p:font typeface="Inter"/>
      <p:regular r:id="rId39"/>
    </p:embeddedFont>
    <p:embeddedFont>
      <p:font typeface="Inter"/>
      <p:regular r:id="rId40"/>
    </p:embeddedFont>
    <p:embeddedFont>
      <p:font typeface="Inter"/>
      <p:regular r:id="rId4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1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slideLayout" Target="../slideLayouts/slideLayout22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27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image" Target="../media/image-27-3.png"/><Relationship Id="rId4" Type="http://schemas.openxmlformats.org/officeDocument/2006/relationships/image" Target="../media/image-27-4.svg"/><Relationship Id="rId5" Type="http://schemas.openxmlformats.org/officeDocument/2006/relationships/image" Target="../media/image-27-5.png"/><Relationship Id="rId6" Type="http://schemas.openxmlformats.org/officeDocument/2006/relationships/image" Target="../media/image-27-6.svg"/><Relationship Id="rId7" Type="http://schemas.openxmlformats.org/officeDocument/2006/relationships/slideLayout" Target="../slideLayouts/slideLayout28.xml"/><Relationship Id="rId8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1081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Historias de Usuario — API Integradora Unidad 1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248626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Documentación de requisitos funcionales extraídos del análisis del código implementado en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u1_ej_8_integrador/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Cubre dos módulos principales —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Categorías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Productos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más requisitos transversales de documentación automática.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62745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Estructura de la API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97965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API Integradora Unidad 1 se organiza en dos módulos funcionales y un conjunto de requisitos transversales que aplican a toda la aplicación.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837980"/>
            <a:ext cx="4215289" cy="2428875"/>
          </a:xfrm>
          <a:prstGeom prst="roundRect">
            <a:avLst>
              <a:gd name="adj" fmla="val 343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9768" y="404395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Módulo: Categorías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9768" y="4473178"/>
            <a:ext cx="380333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historias de usuario — HU-01 a HU-05. Gestión completa de categorías de productos: creación, consulta, listado paginado, actualización y borrado lógico.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07437" y="3837980"/>
            <a:ext cx="4215408" cy="2428875"/>
          </a:xfrm>
          <a:prstGeom prst="roundRect">
            <a:avLst>
              <a:gd name="adj" fmla="val 343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13415" y="404395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Módulo: Productos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413415" y="4473178"/>
            <a:ext cx="380345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historias de usuario — HU-06 a HU-11. Administración del inventario: alta, consulta, paginación, actualización, borrado lógico y alerta de stock mínimo.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621203" y="3837980"/>
            <a:ext cx="4215289" cy="2428875"/>
          </a:xfrm>
          <a:prstGeom prst="roundRect">
            <a:avLst>
              <a:gd name="adj" fmla="val 343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27181" y="404395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Transversales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27181" y="4473178"/>
            <a:ext cx="380333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historia de usuario — HU-12. Documentación interactiva automática (Swagger UI y ReDoc) expuesta por la propia API.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816894"/>
            <a:ext cx="2035016" cy="373142"/>
          </a:xfrm>
          <a:prstGeom prst="roundRect">
            <a:avLst>
              <a:gd name="adj" fmla="val 17872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876425"/>
            <a:ext cx="179689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MÓDULO: CATEGORÍAS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269331"/>
            <a:ext cx="865215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Resumen de Historias — Categorías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318706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3501390"/>
            <a:ext cx="4215289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3646289"/>
            <a:ext cx="300537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HU-01 — Crear categoría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93790" y="4075509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con código, descripción y estado. Responde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201 Created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207437" y="318706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207437" y="3501390"/>
            <a:ext cx="4215408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1" name="Text 9"/>
          <p:cNvSpPr/>
          <p:nvPr/>
        </p:nvSpPr>
        <p:spPr>
          <a:xfrm>
            <a:off x="5207437" y="3646289"/>
            <a:ext cx="376975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HU-02 — Listar con paginación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207437" y="4075509"/>
            <a:ext cx="42154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con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skip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Responde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621203" y="318706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621203" y="3501390"/>
            <a:ext cx="4215289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5" name="Text 13"/>
          <p:cNvSpPr/>
          <p:nvPr/>
        </p:nvSpPr>
        <p:spPr>
          <a:xfrm>
            <a:off x="9621203" y="3646289"/>
            <a:ext cx="314241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HU-03 — Consultar por ID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621203" y="4075509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por ID entero positivo. Responde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93790" y="505777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93790" y="5372100"/>
            <a:ext cx="6422112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9" name="Text 17"/>
          <p:cNvSpPr/>
          <p:nvPr/>
        </p:nvSpPr>
        <p:spPr>
          <a:xfrm>
            <a:off x="793790" y="5516999"/>
            <a:ext cx="436899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HU-04 — Actualizar (PUT completo)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93790" y="5946219"/>
            <a:ext cx="642211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Reemplazo total de todos los campos. Responde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414260" y="505777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414260" y="5372100"/>
            <a:ext cx="642223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3" name="Text 21"/>
          <p:cNvSpPr/>
          <p:nvPr/>
        </p:nvSpPr>
        <p:spPr>
          <a:xfrm>
            <a:off x="7414260" y="5516999"/>
            <a:ext cx="448306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HU-05 — Desactivar (borrado lógico)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7414260" y="5946219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Cambia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activo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sin eliminar el registro.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2730103"/>
            <a:ext cx="711875" cy="373142"/>
          </a:xfrm>
          <a:prstGeom prst="roundRect">
            <a:avLst>
              <a:gd name="adj" fmla="val 17872"/>
            </a:avLst>
          </a:prstGeom>
          <a:solidFill>
            <a:srgbClr val="DADBF1"/>
          </a:solidFill>
          <a:ln/>
        </p:spPr>
      </p:sp>
      <p:sp>
        <p:nvSpPr>
          <p:cNvPr id="4" name="Text 1"/>
          <p:cNvSpPr/>
          <p:nvPr/>
        </p:nvSpPr>
        <p:spPr>
          <a:xfrm>
            <a:off x="6399252" y="2789634"/>
            <a:ext cx="47375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HU-01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280190" y="3182541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Crear una Categoría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6577846" y="4323517"/>
            <a:ext cx="725876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administrador del sistema, quiero crear una nueva categoría de productos proporcionando un código, descripción y estado, para poder organizar los productos del inventario.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280190" y="4100274"/>
            <a:ext cx="22860" cy="1399103"/>
          </a:xfrm>
          <a:prstGeom prst="rect">
            <a:avLst/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409343"/>
            <a:ext cx="3094911" cy="373142"/>
          </a:xfrm>
          <a:prstGeom prst="roundRect">
            <a:avLst>
              <a:gd name="adj" fmla="val 17872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468874"/>
            <a:ext cx="285678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HU-01 — CRITERIOS DE ACEPTACIÓN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861780"/>
            <a:ext cx="957869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Crear Categoría — Reglas de Validación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650915" y="2779514"/>
            <a:ext cx="6565106" cy="4040624"/>
          </a:xfrm>
          <a:prstGeom prst="roundRect">
            <a:avLst>
              <a:gd name="adj" fmla="val 3537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849273" y="297787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Campos requeridos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49273" y="3486388"/>
            <a:ext cx="6168390" cy="179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codigo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formato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^[A-Z]{3}-\d{2}$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3 letras mayúsculas, guión, 2 dígitos. Ejemplo: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"MUE-01"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descripcion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mínimo 3 caracteres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opcional, por defecto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sistema asigna un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autoincremental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64874" y="2977872"/>
            <a:ext cx="348484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Respuestas HTTP esperadas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564874" y="3486388"/>
            <a:ext cx="6279356" cy="1726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201 Created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categoría creada exitosamente (incluye ID asignado)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422 Unprocessable Entity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código fuera de formato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422 Unprocessable Entity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descripción con menos de 3 caracteres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564874" y="5436156"/>
            <a:ext cx="6279356" cy="1160740"/>
          </a:xfrm>
          <a:prstGeom prst="roundRect">
            <a:avLst>
              <a:gd name="adj" fmla="val 7182"/>
            </a:avLst>
          </a:prstGeom>
          <a:solidFill>
            <a:srgbClr val="C7C9E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3232" y="5739051"/>
            <a:ext cx="248007" cy="19835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09598" y="5684044"/>
            <a:ext cx="5436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ID nunca debe ser enviado por el cliente — es responsabilidad exclusiva del servidor asignarlo.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865114"/>
            <a:ext cx="744141" cy="373142"/>
          </a:xfrm>
          <a:prstGeom prst="roundRect">
            <a:avLst>
              <a:gd name="adj" fmla="val 17872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924645"/>
            <a:ext cx="50601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HU-02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317552"/>
            <a:ext cx="796194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Listar Categorías con Paginación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091446" y="3458528"/>
            <a:ext cx="127451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usuario del sistema, quiero obtener un listado paginado de categorías para poder navegar los resultados de forma eficiente.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3235285"/>
            <a:ext cx="22860" cy="764024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Shape 5"/>
          <p:cNvSpPr/>
          <p:nvPr/>
        </p:nvSpPr>
        <p:spPr>
          <a:xfrm>
            <a:off x="793790" y="4222552"/>
            <a:ext cx="4215289" cy="2141815"/>
          </a:xfrm>
          <a:prstGeom prst="roundRect">
            <a:avLst>
              <a:gd name="adj" fmla="val 389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5008" y="444377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Parámetro </a:t>
            </a:r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skip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15008" y="4872990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Default: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Mínimo: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Desplazamiento en el listado. Si supera el total de registros, retorna lista vacía. Si es negativo →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422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207437" y="4222552"/>
            <a:ext cx="4215408" cy="2141815"/>
          </a:xfrm>
          <a:prstGeom prst="roundRect">
            <a:avLst>
              <a:gd name="adj" fmla="val 389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28655" y="444377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Parámetro </a:t>
            </a:r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428655" y="4872990"/>
            <a:ext cx="377297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Default: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Máximo: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Cantidad de resultados a retornar. Si supera 50 →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422 Unprocessable Entity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621203" y="4222552"/>
            <a:ext cx="4215289" cy="2141815"/>
          </a:xfrm>
          <a:prstGeom prst="roundRect">
            <a:avLst>
              <a:gd name="adj" fmla="val 389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42421" y="444377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Respuesta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842421" y="4872990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Lista de categorías con todos sus campos: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codigo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descripcion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activo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Status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todos los casos válidos, incluso lista vacía.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843445"/>
            <a:ext cx="745450" cy="373142"/>
          </a:xfrm>
          <a:prstGeom prst="roundRect">
            <a:avLst>
              <a:gd name="adj" fmla="val 17872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902976"/>
            <a:ext cx="50732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HU-03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295882"/>
            <a:ext cx="744712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Consultar una Categoría por ID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091446" y="3436858"/>
            <a:ext cx="127451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usuario del sistema, quiero consultar el detalle de una categoría específica por su ID para ver toda su información.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3213616"/>
            <a:ext cx="22860" cy="764024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439924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Reglas del ID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93790" y="4907756"/>
            <a:ext cx="6279356" cy="704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Debe ser un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entero mayor a 0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el ID es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≤ 0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422 Unprocessable Entity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21999" y="4200882"/>
            <a:ext cx="6565106" cy="2185273"/>
          </a:xfrm>
          <a:prstGeom prst="roundRect">
            <a:avLst>
              <a:gd name="adj" fmla="val 6539"/>
            </a:avLst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7620357" y="439924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Respuestas HTTP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620357" y="4907756"/>
            <a:ext cx="6168390" cy="1408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retorna datos completos de la categoría (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codigo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descripcion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activo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404 Not Found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mensaje: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"Categoría no encontrada"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422 Unprocessable Entity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ID inválido (≤ 0 o no entero)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1640" y="877967"/>
            <a:ext cx="700445" cy="340757"/>
          </a:xfrm>
          <a:prstGeom prst="roundRect">
            <a:avLst>
              <a:gd name="adj" fmla="val 18284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852845" y="933569"/>
            <a:ext cx="478036" cy="22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HU-04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1640" y="1287899"/>
            <a:ext cx="12496086" cy="579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Actualizar una Categoría — Reemplazo Completo (PUT)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1019770" y="2321838"/>
            <a:ext cx="12868989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administrador del sistema, quiero actualizar todos los datos de una categoría existente para corregir o modificar su información.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41640" y="2127052"/>
            <a:ext cx="22860" cy="676394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Shape 5"/>
          <p:cNvSpPr/>
          <p:nvPr/>
        </p:nvSpPr>
        <p:spPr>
          <a:xfrm>
            <a:off x="741640" y="2998232"/>
            <a:ext cx="6487001" cy="2090142"/>
          </a:xfrm>
          <a:prstGeom prst="roundRect">
            <a:avLst>
              <a:gd name="adj" fmla="val 372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4641" y="3191232"/>
            <a:ext cx="556260" cy="556260"/>
          </a:xfrm>
          <a:prstGeom prst="roundRect">
            <a:avLst>
              <a:gd name="adj" fmla="val 16436712"/>
            </a:avLst>
          </a:prstGeom>
          <a:solidFill>
            <a:srgbClr val="4950B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636" y="3344228"/>
            <a:ext cx="250269" cy="25026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34641" y="3920609"/>
            <a:ext cx="2339578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Campos obligatorios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34641" y="4314111"/>
            <a:ext cx="6101001" cy="581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deben enviar </a:t>
            </a:r>
            <a:pPr algn="l" indent="0" marL="0">
              <a:lnSpc>
                <a:spcPts val="22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</a:t>
            </a:r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los campos: </a:t>
            </a:r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codigo</a:t>
            </a:r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descripcion</a:t>
            </a:r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</a:t>
            </a:r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activo</a:t>
            </a:r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Es un reemplazo total — no actualización parcial.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7401758" y="2998232"/>
            <a:ext cx="6487001" cy="2090142"/>
          </a:xfrm>
          <a:prstGeom prst="roundRect">
            <a:avLst>
              <a:gd name="adj" fmla="val 372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94759" y="3191232"/>
            <a:ext cx="556260" cy="556260"/>
          </a:xfrm>
          <a:prstGeom prst="roundRect">
            <a:avLst>
              <a:gd name="adj" fmla="val 16436712"/>
            </a:avLst>
          </a:prstGeom>
          <a:solidFill>
            <a:srgbClr val="4950B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7754" y="3344228"/>
            <a:ext cx="250269" cy="25026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94759" y="3920609"/>
            <a:ext cx="2317790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Validaciones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594759" y="4314111"/>
            <a:ext cx="6101001" cy="581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aplican las </a:t>
            </a:r>
            <a:pPr algn="l" indent="0" marL="0">
              <a:lnSpc>
                <a:spcPts val="22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mismas reglas</a:t>
            </a:r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en la creación: formato de código </a:t>
            </a:r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^[A-Z]{3}-\d{2}$</a:t>
            </a:r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mínimo 3 caracteres en descripción.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741640" y="5261491"/>
            <a:ext cx="6487001" cy="2090142"/>
          </a:xfrm>
          <a:prstGeom prst="roundRect">
            <a:avLst>
              <a:gd name="adj" fmla="val 372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34641" y="5454491"/>
            <a:ext cx="556260" cy="556260"/>
          </a:xfrm>
          <a:prstGeom prst="roundRect">
            <a:avLst>
              <a:gd name="adj" fmla="val 16436712"/>
            </a:avLst>
          </a:prstGeom>
          <a:solidFill>
            <a:srgbClr val="4950B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7636" y="5607487"/>
            <a:ext cx="250269" cy="25026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34641" y="6183868"/>
            <a:ext cx="2317790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 conservado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934641" y="6577370"/>
            <a:ext cx="6101001" cy="573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ID original </a:t>
            </a:r>
            <a:pPr algn="l" indent="0" marL="0">
              <a:lnSpc>
                <a:spcPts val="22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cambia</a:t>
            </a:r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El servidor ignora cualquier ID enviado en el cuerpo y mantiene el de la URL.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7401758" y="5261491"/>
            <a:ext cx="6487001" cy="2090142"/>
          </a:xfrm>
          <a:prstGeom prst="roundRect">
            <a:avLst>
              <a:gd name="adj" fmla="val 372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594759" y="5454491"/>
            <a:ext cx="556260" cy="556260"/>
          </a:xfrm>
          <a:prstGeom prst="roundRect">
            <a:avLst>
              <a:gd name="adj" fmla="val 16436712"/>
            </a:avLst>
          </a:prstGeom>
          <a:solidFill>
            <a:srgbClr val="4950B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7754" y="5607487"/>
            <a:ext cx="250269" cy="25026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94759" y="6183868"/>
            <a:ext cx="2317790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Respuestas HTTP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7594759" y="6577370"/>
            <a:ext cx="6101001" cy="581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 datos actualizados · </a:t>
            </a:r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 no existe · </a:t>
            </a:r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422</a:t>
            </a:r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 datos inválidos.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2578894"/>
            <a:ext cx="741521" cy="373142"/>
          </a:xfrm>
          <a:prstGeom prst="roundRect">
            <a:avLst>
              <a:gd name="adj" fmla="val 17872"/>
            </a:avLst>
          </a:prstGeom>
          <a:solidFill>
            <a:srgbClr val="DADBF1"/>
          </a:solidFill>
          <a:ln/>
        </p:spPr>
      </p:sp>
      <p:sp>
        <p:nvSpPr>
          <p:cNvPr id="4" name="Text 1"/>
          <p:cNvSpPr/>
          <p:nvPr/>
        </p:nvSpPr>
        <p:spPr>
          <a:xfrm>
            <a:off x="912852" y="2638425"/>
            <a:ext cx="50339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HU-05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3031331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Desactivar una Categoría — Borrado Lógico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1091446" y="4792385"/>
            <a:ext cx="72587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administrador del sistema, quiero desactivar una categoría sin eliminarla físicamente para mantener el historial y la integridad de datos.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93790" y="4569143"/>
            <a:ext cx="22860" cy="1081564"/>
          </a:xfrm>
          <a:prstGeom prst="rect">
            <a:avLst/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166938"/>
            <a:ext cx="3124438" cy="373142"/>
          </a:xfrm>
          <a:prstGeom prst="roundRect">
            <a:avLst>
              <a:gd name="adj" fmla="val 17872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2226469"/>
            <a:ext cx="288631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HU-05 — CRITERIOS DE ACEPTACIÓN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619375"/>
            <a:ext cx="1233416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Desactivar Categoría — Comportamiento Esperado</a:t>
            </a:r>
            <a:endParaRPr lang="en-US" sz="3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8204" y="3543181"/>
            <a:ext cx="297656" cy="297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38632" y="3537109"/>
            <a:ext cx="292250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Sin cuerpo en la request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438632" y="3966329"/>
            <a:ext cx="575250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endpoint no requiere ningún body. Solo se necesita el ID de la categoría en la URL.</a:t>
            </a:r>
            <a:endParaRPr lang="en-US" sz="1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13558" y="3543181"/>
            <a:ext cx="297656" cy="2976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83987" y="3537109"/>
            <a:ext cx="262175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Campo </a:t>
            </a:r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activo</a:t>
            </a:r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→ </a:t>
            </a:r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8083987" y="3966329"/>
            <a:ext cx="575262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Únicamente se modifica el campo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activo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Todos los demás campos (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codigo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descripcion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permanecen intactos.</a:t>
            </a:r>
            <a:endParaRPr lang="en-US" sz="15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204" y="5004316"/>
            <a:ext cx="297656" cy="2976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38632" y="4998244"/>
            <a:ext cx="295167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Registro sigue accesible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1438632" y="5427464"/>
            <a:ext cx="575250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categoría desactivada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sigue siendo consultable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por ID y aparece en el listado paginado. No se oculta del sistema.</a:t>
            </a:r>
            <a:endParaRPr lang="en-US" sz="15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13558" y="5004316"/>
            <a:ext cx="297656" cy="2976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083987" y="499824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Respuestas HTTP</a:t>
            </a:r>
            <a:endParaRPr lang="en-US" sz="1950" dirty="0"/>
          </a:p>
        </p:txBody>
      </p:sp>
      <p:sp>
        <p:nvSpPr>
          <p:cNvPr id="16" name="Text 10"/>
          <p:cNvSpPr/>
          <p:nvPr/>
        </p:nvSpPr>
        <p:spPr>
          <a:xfrm>
            <a:off x="8083987" y="5427464"/>
            <a:ext cx="575262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 los datos actualizados (incluyendo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activo: false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si existe ·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404 Not Found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 no existe.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40368"/>
            <a:ext cx="2026801" cy="373142"/>
          </a:xfrm>
          <a:prstGeom prst="roundRect">
            <a:avLst>
              <a:gd name="adj" fmla="val 17872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099899"/>
            <a:ext cx="178867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MÓDULO: PRODUCTOS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492806"/>
            <a:ext cx="849058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Resumen de Historias — Productos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410539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2724864"/>
            <a:ext cx="642223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2869763"/>
            <a:ext cx="300942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HU-06 — Crear producto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93790" y="3298984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con nombre, categoría, precio, stock y stock mínimo. Responde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201 Created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414379" y="2410539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14379" y="2724864"/>
            <a:ext cx="642223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1" name="Text 9"/>
          <p:cNvSpPr/>
          <p:nvPr/>
        </p:nvSpPr>
        <p:spPr>
          <a:xfrm>
            <a:off x="7414379" y="2869763"/>
            <a:ext cx="375285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HU-07 — Listar con paginación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414379" y="3298984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con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skip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Mismas reglas que categorías.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93790" y="4281249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93790" y="4595574"/>
            <a:ext cx="642223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5" name="Text 13"/>
          <p:cNvSpPr/>
          <p:nvPr/>
        </p:nvSpPr>
        <p:spPr>
          <a:xfrm>
            <a:off x="793790" y="4740473"/>
            <a:ext cx="314372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HU-08 — Consultar por ID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93790" y="5169694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por ID entero positivo. Retorna todos los campos del producto.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414379" y="4281249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414379" y="4595574"/>
            <a:ext cx="642223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9" name="Text 17"/>
          <p:cNvSpPr/>
          <p:nvPr/>
        </p:nvSpPr>
        <p:spPr>
          <a:xfrm>
            <a:off x="7414379" y="4740473"/>
            <a:ext cx="436233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HU-09 — Actualizar (PUT completo)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414379" y="5169694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Reemplazo total de todos los campos del producto.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93790" y="583442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93790" y="6148745"/>
            <a:ext cx="642223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3" name="Text 21"/>
          <p:cNvSpPr/>
          <p:nvPr/>
        </p:nvSpPr>
        <p:spPr>
          <a:xfrm>
            <a:off x="793790" y="6293644"/>
            <a:ext cx="443567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HU-10 — Desactivar (borrado lógico)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793790" y="6722864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Cambia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activo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sin eliminar el registro.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414379" y="583442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7414379" y="6148745"/>
            <a:ext cx="642223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7" name="Text 25"/>
          <p:cNvSpPr/>
          <p:nvPr/>
        </p:nvSpPr>
        <p:spPr>
          <a:xfrm>
            <a:off x="7414379" y="6293644"/>
            <a:ext cx="298692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HU-11 — Estado de stock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7414379" y="6722864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Retorna stock actual, alerta de bajo stock y estado activo.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2730103"/>
            <a:ext cx="745808" cy="373142"/>
          </a:xfrm>
          <a:prstGeom prst="roundRect">
            <a:avLst>
              <a:gd name="adj" fmla="val 17872"/>
            </a:avLst>
          </a:prstGeom>
          <a:solidFill>
            <a:srgbClr val="DADBF1"/>
          </a:solidFill>
          <a:ln/>
        </p:spPr>
      </p:sp>
      <p:sp>
        <p:nvSpPr>
          <p:cNvPr id="4" name="Text 1"/>
          <p:cNvSpPr/>
          <p:nvPr/>
        </p:nvSpPr>
        <p:spPr>
          <a:xfrm>
            <a:off x="912852" y="2789634"/>
            <a:ext cx="50768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HU-06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3182541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Crear un Producto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1091446" y="4323517"/>
            <a:ext cx="725876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administrador del sistema, quiero crear un nuevo producto con su nombre, categoría, precio, stock y stock mínimo para incorporarlo al inventario.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93790" y="4100274"/>
            <a:ext cx="22860" cy="1399103"/>
          </a:xfrm>
          <a:prstGeom prst="rect">
            <a:avLst/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31877"/>
            <a:ext cx="3128724" cy="373142"/>
          </a:xfrm>
          <a:prstGeom prst="roundRect">
            <a:avLst>
              <a:gd name="adj" fmla="val 17872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791408"/>
            <a:ext cx="2890599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HU-06 — CRITERIOS DE ACEPTACIÓN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184315"/>
            <a:ext cx="1036415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Crear Producto — Validaciones de Campos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793790" y="2102048"/>
            <a:ext cx="13042821" cy="4011573"/>
          </a:xfrm>
          <a:prstGeom prst="roundRect">
            <a:avLst>
              <a:gd name="adj" fmla="val 207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1410" y="2109668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00006" y="2236351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260652" y="2236351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 / Restricción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168878" y="2236351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Obligatorio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1425714" y="2236351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si inválido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1410" y="2680573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00006" y="2807256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260652" y="2807256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string, sin restricción de longitud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168878" y="2807256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425714" y="2807256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422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01410" y="3251478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00006" y="3378160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260652" y="3378160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formato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^[A-Z]{3}-\d{2}$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168878" y="3378160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1425714" y="3378160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422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01410" y="3822383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00006" y="3949065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precio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260652" y="3949065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float &gt; 0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168878" y="3949065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1425714" y="3949065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422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801410" y="4393287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00006" y="4519970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stock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260652" y="4519970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entero ≥ 0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8168878" y="4519970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11425714" y="4519970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422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801410" y="4964192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000006" y="5090874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stock_minimo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4260652" y="5090874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entero ≥ 0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8168878" y="5090874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11425714" y="5090874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422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801410" y="5535097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000006" y="5661779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activo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4260652" y="5661779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boolean, default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8168878" y="5661779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11425714" y="5661779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550" dirty="0"/>
          </a:p>
        </p:txBody>
      </p:sp>
      <p:sp>
        <p:nvSpPr>
          <p:cNvPr id="41" name="Shape 39"/>
          <p:cNvSpPr/>
          <p:nvPr/>
        </p:nvSpPr>
        <p:spPr>
          <a:xfrm>
            <a:off x="793790" y="6336863"/>
            <a:ext cx="13042821" cy="1160740"/>
          </a:xfrm>
          <a:prstGeom prst="roundRect">
            <a:avLst>
              <a:gd name="adj" fmla="val 7182"/>
            </a:avLst>
          </a:prstGeom>
          <a:solidFill>
            <a:srgbClr val="C7C9EA"/>
          </a:solidFill>
          <a:ln/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6639758"/>
            <a:ext cx="248007" cy="198358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1438513" y="6584752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Nota importante: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se valida que la categoría referenciada exista en el módulo de categorías. El campo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solo se valida en formato, no en existencia.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66882"/>
            <a:ext cx="734020" cy="373142"/>
          </a:xfrm>
          <a:prstGeom prst="roundRect">
            <a:avLst>
              <a:gd name="adj" fmla="val 17872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826413"/>
            <a:ext cx="49589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HU-07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219319"/>
            <a:ext cx="780038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Listar Productos con Paginación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091446" y="2360295"/>
            <a:ext cx="127451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usuario del sistema, quiero obtener un listado paginado de productos para navegar el inventario.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2137053"/>
            <a:ext cx="22860" cy="764024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Shape 5"/>
          <p:cNvSpPr/>
          <p:nvPr/>
        </p:nvSpPr>
        <p:spPr>
          <a:xfrm>
            <a:off x="650915" y="3124319"/>
            <a:ext cx="6565106" cy="4338399"/>
          </a:xfrm>
          <a:prstGeom prst="roundRect">
            <a:avLst>
              <a:gd name="adj" fmla="val 3294"/>
            </a:avLst>
          </a:prstGeom>
          <a:solidFill>
            <a:srgbClr val="4950BC"/>
          </a:solidFill>
          <a:ln/>
        </p:spPr>
      </p:sp>
      <p:sp>
        <p:nvSpPr>
          <p:cNvPr id="8" name="Text 6"/>
          <p:cNvSpPr/>
          <p:nvPr/>
        </p:nvSpPr>
        <p:spPr>
          <a:xfrm>
            <a:off x="849273" y="3322677"/>
            <a:ext cx="252817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Parámetros de query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849273" y="3831193"/>
            <a:ext cx="6168390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skip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default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mínimo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Negativo →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422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default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máximo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Mayor a 50 →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422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skip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supera el total, retorna lista vacía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64874" y="3322677"/>
            <a:ext cx="401907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Campos retornados por producto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564874" y="3831193"/>
            <a:ext cx="6279356" cy="2639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identificador autoincremental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nombre del producto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código de categoría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precio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precio unitario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stock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cantidad en inventario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stock_minimo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umbral de alerta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activo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estado del producto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564874" y="6649045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todos los casos válidos, incluso con lista vacía.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706404"/>
            <a:ext cx="745569" cy="373142"/>
          </a:xfrm>
          <a:prstGeom prst="roundRect">
            <a:avLst>
              <a:gd name="adj" fmla="val 17872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765935"/>
            <a:ext cx="50744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HU-08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158841"/>
            <a:ext cx="699754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Consultar un Producto por ID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091446" y="3299817"/>
            <a:ext cx="127451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usuario del sistema, quiero consultar el detalle de un producto específico por su ID para ver toda su información.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3076575"/>
            <a:ext cx="22860" cy="764024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Shape 5"/>
          <p:cNvSpPr/>
          <p:nvPr/>
        </p:nvSpPr>
        <p:spPr>
          <a:xfrm>
            <a:off x="793790" y="4063841"/>
            <a:ext cx="4215289" cy="2459355"/>
          </a:xfrm>
          <a:prstGeom prst="roundRect">
            <a:avLst>
              <a:gd name="adj" fmla="val 446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0930" y="4063841"/>
            <a:ext cx="91440" cy="2459355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1083588" y="4285059"/>
            <a:ext cx="307919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Regla de validación del ID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83588" y="4714280"/>
            <a:ext cx="370427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ID debe ser un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entero mayor a 0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Si se envía un valor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≤ 0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un tipo no entero, el servidor responde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422 Unprocessable Entity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sin consultar la base de datos.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207437" y="4063841"/>
            <a:ext cx="4215408" cy="2459355"/>
          </a:xfrm>
          <a:prstGeom prst="roundRect">
            <a:avLst>
              <a:gd name="adj" fmla="val 446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84577" y="4063841"/>
            <a:ext cx="91440" cy="2459355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5497235" y="4285059"/>
            <a:ext cx="370439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— Producto encontrado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497235" y="5024438"/>
            <a:ext cx="370439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Retorna todos los campos: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precio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stock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stock_minimo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activo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9621203" y="4063841"/>
            <a:ext cx="4215289" cy="2459355"/>
          </a:xfrm>
          <a:prstGeom prst="roundRect">
            <a:avLst>
              <a:gd name="adj" fmla="val 446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98343" y="4063841"/>
            <a:ext cx="91440" cy="2459355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9911001" y="4285059"/>
            <a:ext cx="370427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404 Not Found</a:t>
            </a:r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— Producto inexistente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911001" y="5024438"/>
            <a:ext cx="37042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el ID es válido pero no existe ningún producto con ese identificador, responde con mensaje: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"Producto no encontrado"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01817"/>
            <a:ext cx="745808" cy="373142"/>
          </a:xfrm>
          <a:prstGeom prst="roundRect">
            <a:avLst>
              <a:gd name="adj" fmla="val 17872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261348"/>
            <a:ext cx="50768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HU-09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654254"/>
            <a:ext cx="1292590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Actualizar un Producto — Reemplazo Completo (PUT)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091446" y="2795230"/>
            <a:ext cx="127451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administrador del sistema, quiero actualizar todos los datos de un producto existente para corregir precios, stock u otra información.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2571988"/>
            <a:ext cx="22860" cy="1081564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Shape 5"/>
          <p:cNvSpPr/>
          <p:nvPr/>
        </p:nvSpPr>
        <p:spPr>
          <a:xfrm>
            <a:off x="793790" y="3876794"/>
            <a:ext cx="6422231" cy="1476256"/>
          </a:xfrm>
          <a:prstGeom prst="roundRect">
            <a:avLst>
              <a:gd name="adj" fmla="val 564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9768" y="4082772"/>
            <a:ext cx="369034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Todos los campos obligatorios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99768" y="4511993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envían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los campos del producto en el body. Es un reemplazo total (PUT), no una actualización parcial (PATCH).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14379" y="3876794"/>
            <a:ext cx="6422231" cy="1476256"/>
          </a:xfrm>
          <a:prstGeom prst="roundRect">
            <a:avLst>
              <a:gd name="adj" fmla="val 564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20357" y="4082772"/>
            <a:ext cx="404526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Validaciones idénticas a creación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620357" y="4511993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aplican las mismas reglas: formato de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precio &gt; 0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stock ≥ 0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stock_minimo ≥ 0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vacío.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93790" y="5551408"/>
            <a:ext cx="6422231" cy="1476256"/>
          </a:xfrm>
          <a:prstGeom prst="roundRect">
            <a:avLst>
              <a:gd name="adj" fmla="val 564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9768" y="575738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 conservado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99768" y="6186607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ID original del producto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se modifica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Se toma de la URL, no del cuerpo del request.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414379" y="5551408"/>
            <a:ext cx="6422231" cy="1476256"/>
          </a:xfrm>
          <a:prstGeom prst="roundRect">
            <a:avLst>
              <a:gd name="adj" fmla="val 564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20357" y="575738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Respuestas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620357" y="6186607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 datos actualizados ·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 no existe ·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422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 datos inválidos.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2578894"/>
            <a:ext cx="711875" cy="373142"/>
          </a:xfrm>
          <a:prstGeom prst="roundRect">
            <a:avLst>
              <a:gd name="adj" fmla="val 17872"/>
            </a:avLst>
          </a:prstGeom>
          <a:solidFill>
            <a:srgbClr val="DADBF1"/>
          </a:solidFill>
          <a:ln/>
        </p:spPr>
      </p:sp>
      <p:sp>
        <p:nvSpPr>
          <p:cNvPr id="4" name="Text 1"/>
          <p:cNvSpPr/>
          <p:nvPr/>
        </p:nvSpPr>
        <p:spPr>
          <a:xfrm>
            <a:off x="6399252" y="2638425"/>
            <a:ext cx="47375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HU-10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280190" y="3031331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Desactivar un Producto — Borrado Lógico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6577846" y="4792385"/>
            <a:ext cx="72587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administrador del sistema, quiero desactivar un producto sin eliminarlo físicamente para mantener el registro histórico.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280190" y="4569143"/>
            <a:ext cx="22860" cy="1081564"/>
          </a:xfrm>
          <a:prstGeom prst="rect">
            <a:avLst/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920359"/>
            <a:ext cx="3094911" cy="373142"/>
          </a:xfrm>
          <a:prstGeom prst="roundRect">
            <a:avLst>
              <a:gd name="adj" fmla="val 17872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979890"/>
            <a:ext cx="285678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HU-10 — CRITERIOS DE ACEPTACIÓN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372797"/>
            <a:ext cx="1217247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Desactivar Producto — Comportamiento Esperado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3488888"/>
            <a:ext cx="395728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Comportamiento de la operación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3997404"/>
            <a:ext cx="6279356" cy="179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requiere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ningún cuerpo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la request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cambia el campo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activo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los demás campos permanecen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intactos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producto desactivado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sigue siendo consultable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por ID y aparece en listados paginados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21999" y="3290530"/>
            <a:ext cx="6565106" cy="3018592"/>
          </a:xfrm>
          <a:prstGeom prst="roundRect">
            <a:avLst>
              <a:gd name="adj" fmla="val 4734"/>
            </a:avLst>
          </a:prstGeom>
          <a:solidFill>
            <a:srgbClr val="4950BC"/>
          </a:solidFill>
          <a:ln/>
        </p:spPr>
      </p:sp>
      <p:sp>
        <p:nvSpPr>
          <p:cNvPr id="8" name="Text 6"/>
          <p:cNvSpPr/>
          <p:nvPr/>
        </p:nvSpPr>
        <p:spPr>
          <a:xfrm>
            <a:off x="7620357" y="348888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Respuestas HTTP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620357" y="3997404"/>
            <a:ext cx="6168390" cy="704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retorna los datos del producto con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activo: false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404 Not Found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si el producto no existe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620357" y="4925139"/>
            <a:ext cx="6168390" cy="1160740"/>
          </a:xfrm>
          <a:prstGeom prst="roundRect">
            <a:avLst>
              <a:gd name="adj" fmla="val 7182"/>
            </a:avLst>
          </a:prstGeom>
          <a:solidFill>
            <a:srgbClr val="C7C9E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715" y="5228034"/>
            <a:ext cx="248007" cy="19835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65081" y="5173028"/>
            <a:ext cx="53253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Patrón idéntico al borrado lógico de categorías (HU-05). Coherencia intencional entre módulos.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2420064"/>
            <a:ext cx="676394" cy="373142"/>
          </a:xfrm>
          <a:prstGeom prst="roundRect">
            <a:avLst>
              <a:gd name="adj" fmla="val 17872"/>
            </a:avLst>
          </a:prstGeom>
          <a:solidFill>
            <a:srgbClr val="DADBF1"/>
          </a:solidFill>
          <a:ln/>
        </p:spPr>
      </p:sp>
      <p:sp>
        <p:nvSpPr>
          <p:cNvPr id="4" name="Text 1"/>
          <p:cNvSpPr/>
          <p:nvPr/>
        </p:nvSpPr>
        <p:spPr>
          <a:xfrm>
            <a:off x="6399252" y="2479596"/>
            <a:ext cx="438269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HU-11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280190" y="2872502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Consultar Estado de Stock de un Producto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6577846" y="4633555"/>
            <a:ext cx="725876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usuario del sistema, quiero consultar el estado de stock de un producto para saber si está por debajo del mínimo y tomar decisiones de reposición.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280190" y="4410313"/>
            <a:ext cx="22860" cy="1399103"/>
          </a:xfrm>
          <a:prstGeom prst="rect">
            <a:avLst/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76350"/>
            <a:ext cx="3059311" cy="373142"/>
          </a:xfrm>
          <a:prstGeom prst="roundRect">
            <a:avLst>
              <a:gd name="adj" fmla="val 17872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335881"/>
            <a:ext cx="282118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HU-11 — CRITERIOS DE ACEPTACIÓN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728787"/>
            <a:ext cx="857357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Estado de Stock — Lógica de Alerta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64652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endpoint retorna únicamente tres campos: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stock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bajo_stock_minimo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activo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La lógica de la alerta sigue estas reglas exactas: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3187303"/>
            <a:ext cx="13042821" cy="1793796"/>
          </a:xfrm>
          <a:prstGeom prst="roundRect">
            <a:avLst>
              <a:gd name="adj" fmla="val 464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1410" y="3194923"/>
            <a:ext cx="4342448" cy="1778556"/>
          </a:xfrm>
          <a:prstGeom prst="roundRect">
            <a:avLst>
              <a:gd name="adj" fmla="val 4687"/>
            </a:avLst>
          </a:prstGeom>
          <a:solidFill>
            <a:srgbClr val="DADBF1"/>
          </a:solidFill>
          <a:ln/>
        </p:spPr>
      </p:sp>
      <p:sp>
        <p:nvSpPr>
          <p:cNvPr id="8" name="Text 6"/>
          <p:cNvSpPr/>
          <p:nvPr/>
        </p:nvSpPr>
        <p:spPr>
          <a:xfrm>
            <a:off x="999768" y="3393281"/>
            <a:ext cx="265926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stock &lt; stock_minimo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99768" y="3822502"/>
            <a:ext cx="394573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bajo_stock_minimo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Se dispara la alerta — el inventario está por debajo del umbral mínimo establecido.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143857" y="3194923"/>
            <a:ext cx="4342567" cy="1778556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1" name="Shape 9"/>
          <p:cNvSpPr/>
          <p:nvPr/>
        </p:nvSpPr>
        <p:spPr>
          <a:xfrm>
            <a:off x="5143857" y="3194923"/>
            <a:ext cx="22860" cy="1778556"/>
          </a:xfrm>
          <a:prstGeom prst="roundRect">
            <a:avLst>
              <a:gd name="adj" fmla="val 364651"/>
            </a:avLst>
          </a:prstGeom>
          <a:solidFill>
            <a:srgbClr val="C0C1D7"/>
          </a:solidFill>
          <a:ln/>
        </p:spPr>
      </p:sp>
      <p:sp>
        <p:nvSpPr>
          <p:cNvPr id="12" name="Text 10"/>
          <p:cNvSpPr/>
          <p:nvPr/>
        </p:nvSpPr>
        <p:spPr>
          <a:xfrm>
            <a:off x="5342215" y="3393281"/>
            <a:ext cx="280106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stock == stock_minimo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342215" y="3822502"/>
            <a:ext cx="394585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bajo_stock_minimo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Estar en el límite exacto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dispara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 alerta.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486424" y="3194923"/>
            <a:ext cx="4342567" cy="1778556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5" name="Shape 13"/>
          <p:cNvSpPr/>
          <p:nvPr/>
        </p:nvSpPr>
        <p:spPr>
          <a:xfrm>
            <a:off x="9486424" y="3194923"/>
            <a:ext cx="22860" cy="1778556"/>
          </a:xfrm>
          <a:prstGeom prst="roundRect">
            <a:avLst>
              <a:gd name="adj" fmla="val 364651"/>
            </a:avLst>
          </a:prstGeom>
          <a:solidFill>
            <a:srgbClr val="C0C1D7"/>
          </a:solidFill>
          <a:ln/>
        </p:spPr>
      </p:sp>
      <p:sp>
        <p:nvSpPr>
          <p:cNvPr id="16" name="Text 14"/>
          <p:cNvSpPr/>
          <p:nvPr/>
        </p:nvSpPr>
        <p:spPr>
          <a:xfrm>
            <a:off x="9684782" y="3393281"/>
            <a:ext cx="265926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stock &gt; stock_minimo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684782" y="3822502"/>
            <a:ext cx="394585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bajo_stock_minimo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Stock por encima del mínimo — sin alerta.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93790" y="5303520"/>
            <a:ext cx="6397347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5150" dirty="0"/>
          </a:p>
        </p:txBody>
      </p:sp>
      <p:sp>
        <p:nvSpPr>
          <p:cNvPr id="19" name="Text 17"/>
          <p:cNvSpPr/>
          <p:nvPr/>
        </p:nvSpPr>
        <p:spPr>
          <a:xfrm>
            <a:off x="2674620" y="6206490"/>
            <a:ext cx="263568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Campos en respuesta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93790" y="6635710"/>
            <a:ext cx="639734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stock</a:t>
            </a:r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bajo_stock_minimo</a:t>
            </a:r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activo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439144" y="5303520"/>
            <a:ext cx="6397466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5150" dirty="0"/>
          </a:p>
        </p:txBody>
      </p:sp>
      <p:sp>
        <p:nvSpPr>
          <p:cNvPr id="22" name="Text 20"/>
          <p:cNvSpPr/>
          <p:nvPr/>
        </p:nvSpPr>
        <p:spPr>
          <a:xfrm>
            <a:off x="9397365" y="62064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Condición de alerta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7439144" y="6635710"/>
            <a:ext cx="639746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cuando </a:t>
            </a:r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stock &lt; stock_minimo</a:t>
            </a:r>
            <a:endParaRPr lang="en-US" sz="15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55552"/>
            <a:ext cx="2297430" cy="373142"/>
          </a:xfrm>
          <a:prstGeom prst="roundRect">
            <a:avLst>
              <a:gd name="adj" fmla="val 17872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615083"/>
            <a:ext cx="20593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TRANSVERSALES — HU-12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007989"/>
            <a:ext cx="896635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Documentación Automática de la API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091446" y="3148965"/>
            <a:ext cx="127451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desarrollador, quiero que la API exponga documentación interactiva automática (Swagger/OpenAPI) para poder explorar y probar los endpoints.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2925723"/>
            <a:ext cx="22860" cy="1081564"/>
          </a:xfrm>
          <a:prstGeom prst="rect">
            <a:avLst/>
          </a:prstGeom>
          <a:solidFill>
            <a:srgbClr val="4950B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4230529"/>
            <a:ext cx="496133" cy="49613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3790" y="497466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Swagger UI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793790" y="5403890"/>
            <a:ext cx="41821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Disponible en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/docs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Interfaz interactiva que permite explorar y ejecutar todos los endpoints directamente desde el navegador.</a:t>
            </a:r>
            <a:endParaRPr lang="en-US" sz="1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3986" y="4230529"/>
            <a:ext cx="496133" cy="49613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23986" y="497466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ReDoc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5223986" y="5403890"/>
            <a:ext cx="41823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Disponible en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/redoc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Documentación de referencia en formato limpio y legible, ideal para lectura técnica detallada.</a:t>
            </a:r>
            <a:endParaRPr lang="en-US" sz="15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54302" y="4230529"/>
            <a:ext cx="496133" cy="49613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54302" y="4974669"/>
            <a:ext cx="268259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Schemas automáticos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9654302" y="5403890"/>
            <a:ext cx="418230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schemas de request y response se generan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automáticamente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desde los modelos Pydantic, sin necesidad de documentación manual.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804988"/>
            <a:ext cx="3091577" cy="373142"/>
          </a:xfrm>
          <a:prstGeom prst="roundRect">
            <a:avLst>
              <a:gd name="adj" fmla="val 17872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864519"/>
            <a:ext cx="2853452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HU-12 — CRITERIOS DE ACEPTACIÓN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257425"/>
            <a:ext cx="1092493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Configuración de la Documentación OpenAPI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650915" y="3175159"/>
            <a:ext cx="6565106" cy="3249454"/>
          </a:xfrm>
          <a:prstGeom prst="roundRect">
            <a:avLst>
              <a:gd name="adj" fmla="val 4398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849273" y="337351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Metadatos de la API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49273" y="3882033"/>
            <a:ext cx="6168390" cy="1408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Título: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"API Integradora - Unidad 1"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Versión: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1.0.0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endpoints se agrupan por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"Categorías"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"Productos"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64874" y="3373517"/>
            <a:ext cx="293798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URLs de documentación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564874" y="3882033"/>
            <a:ext cx="6279356" cy="704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/docs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Swagger UI (interactivo)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/redoc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ReDoc (referencia)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64874" y="4784884"/>
            <a:ext cx="281559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Generación automática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564874" y="5293400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los schemas de entrada y salida se generan directamente desde los modelos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Pydantic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definidos en el código, asegurando consistencia entre la implementación y la documentación.</a:t>
            </a:r>
            <a:endParaRPr lang="en-US" sz="15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42242"/>
            <a:ext cx="658856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Resumen de Códigos HTTP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75915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Tabla de referencia rápida de los códigos de respuesta HTTP utilizados en toda la API Integradora.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299936"/>
            <a:ext cx="13042821" cy="3187303"/>
          </a:xfrm>
          <a:prstGeom prst="roundRect">
            <a:avLst>
              <a:gd name="adj" fmla="val 261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307556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00006" y="3434239"/>
            <a:ext cx="15535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2957870" y="3434239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563314" y="3434239"/>
            <a:ext cx="80673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Cuándo se usa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1410" y="3878461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00006" y="4005143"/>
            <a:ext cx="15535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2957870" y="4005143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OK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563314" y="4005143"/>
            <a:ext cx="80673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Consulta, listado, actualización o desactivación exitosa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1410" y="4449366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00006" y="4576048"/>
            <a:ext cx="15535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201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2957870" y="4576048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563314" y="4576048"/>
            <a:ext cx="80673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Creación exitosa de categoría o producto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01410" y="5020270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00006" y="5146953"/>
            <a:ext cx="15535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2957870" y="5146953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Found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563314" y="5146953"/>
            <a:ext cx="80673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ID solicitado no existe en el sistema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01410" y="5591175"/>
            <a:ext cx="13027581" cy="8884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00006" y="5717858"/>
            <a:ext cx="15535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422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2957870" y="5717858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Unprocessable Entity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563314" y="5717858"/>
            <a:ext cx="806731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Validación fallida: formato incorrecto, valores fuera de rango, campos obligatorios ausentes</a:t>
            </a:r>
            <a:endParaRPr lang="en-US" sz="15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9867"/>
            <a:ext cx="826448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Reglas de Validación Compartidas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85678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Estas validaciones aplican tanto al módulo de Categorías como al de Productos, garantizando consistencia en toda la API.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695218"/>
            <a:ext cx="6422231" cy="2099191"/>
          </a:xfrm>
          <a:prstGeom prst="roundRect">
            <a:avLst>
              <a:gd name="adj" fmla="val 522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2672358"/>
            <a:ext cx="6422231" cy="91440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/>
        </p:spPr>
      </p:sp>
      <p:sp>
        <p:nvSpPr>
          <p:cNvPr id="6" name="Shape 4"/>
          <p:cNvSpPr/>
          <p:nvPr/>
        </p:nvSpPr>
        <p:spPr>
          <a:xfrm>
            <a:off x="3707249" y="2397562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3885843" y="2546390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015008" y="3191351"/>
            <a:ext cx="382821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Formato de código de categoría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15008" y="3620572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Regex: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^[A-Z]{3}-\d{2}$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Tres letras mayúsculas, guión, dos dígitos. Ejemplo válido: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"MUE-01"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"ELE-99"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14379" y="2695218"/>
            <a:ext cx="6422231" cy="2099191"/>
          </a:xfrm>
          <a:prstGeom prst="roundRect">
            <a:avLst>
              <a:gd name="adj" fmla="val 5227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7414379" y="2672358"/>
            <a:ext cx="6422231" cy="91440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327838" y="2397562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10506432" y="2546390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7635597" y="319135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 entero positivo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635597" y="3620572"/>
            <a:ext cx="59797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 ID enviado en la URL debe ser un entero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mayor a 0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Valores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≤ 0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no numéricos generan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422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sin consultar la base de datos.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93790" y="5290423"/>
            <a:ext cx="6422231" cy="2099191"/>
          </a:xfrm>
          <a:prstGeom prst="roundRect">
            <a:avLst>
              <a:gd name="adj" fmla="val 5227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93790" y="5267563"/>
            <a:ext cx="6422231" cy="91440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/>
        </p:spPr>
      </p:sp>
      <p:sp>
        <p:nvSpPr>
          <p:cNvPr id="18" name="Shape 16"/>
          <p:cNvSpPr/>
          <p:nvPr/>
        </p:nvSpPr>
        <p:spPr>
          <a:xfrm>
            <a:off x="3707249" y="4992767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4950BC"/>
          </a:solidFill>
          <a:ln/>
        </p:spPr>
      </p:sp>
      <p:sp>
        <p:nvSpPr>
          <p:cNvPr id="19" name="Text 17"/>
          <p:cNvSpPr/>
          <p:nvPr/>
        </p:nvSpPr>
        <p:spPr>
          <a:xfrm>
            <a:off x="3885843" y="5141595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1015008" y="5786557"/>
            <a:ext cx="282630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Paginación consistente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15008" y="6215777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skip ≥ 0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entre 1 y 50. Mismas reglas y mismos errores en ambos módulos.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414379" y="5290423"/>
            <a:ext cx="6422231" cy="2099191"/>
          </a:xfrm>
          <a:prstGeom prst="roundRect">
            <a:avLst>
              <a:gd name="adj" fmla="val 5227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7414379" y="5267563"/>
            <a:ext cx="6422231" cy="91440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/>
        </p:spPr>
      </p:sp>
      <p:sp>
        <p:nvSpPr>
          <p:cNvPr id="24" name="Shape 22"/>
          <p:cNvSpPr/>
          <p:nvPr/>
        </p:nvSpPr>
        <p:spPr>
          <a:xfrm>
            <a:off x="10327838" y="4992767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4950BC"/>
          </a:solidFill>
          <a:ln/>
        </p:spPr>
      </p:sp>
      <p:sp>
        <p:nvSpPr>
          <p:cNvPr id="25" name="Text 23"/>
          <p:cNvSpPr/>
          <p:nvPr/>
        </p:nvSpPr>
        <p:spPr>
          <a:xfrm>
            <a:off x="10506432" y="5141595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7635597" y="5786557"/>
            <a:ext cx="292608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Borrado lógico uniforme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7635597" y="6215777"/>
            <a:ext cx="59797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Tanto categorías (HU-05) como productos (HU-10) usan el mismo patrón: sin body, cambia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activo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registro sigue accesible.</a:t>
            </a:r>
            <a:endParaRPr lang="en-US" sz="15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31094"/>
            <a:ext cx="552831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Guía Rápida de Testing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2048827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Referencia para desarrolladores y testers al momento de implementar los casos de prueba de la API Integradora.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280190" y="2907149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25032" y="297537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Happy path primero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925032" y="3404592"/>
            <a:ext cx="691157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Verificar siempre el flujo exitoso antes de probar casos de error: crear → consultar → listar → actualizar → desactivar.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280190" y="4436507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25032" y="4504730"/>
            <a:ext cx="324445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Casos límite en paginación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6925032" y="4933950"/>
            <a:ext cx="691157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Probar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skip=0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limit=50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(máximo válido),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limit=51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(debe fallar con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422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), y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skip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mayor al total de registros (lista vacía).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280190" y="5965865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25032" y="6034088"/>
            <a:ext cx="411515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Alerta de stock — igualdad exacta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6925032" y="6463308"/>
            <a:ext cx="691157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caso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stock == stock_minimo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 crítico: la alerta debe ser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Probar explícitamente con valores iguales.</a:t>
            </a:r>
            <a:endParaRPr lang="en-US" sz="15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994" y="526137"/>
            <a:ext cx="8571190" cy="556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Mapa Completo de Historias de Usuario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994" y="1401604"/>
            <a:ext cx="10485120" cy="585216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994" y="1401604"/>
            <a:ext cx="10485120" cy="58521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1994" y="7433310"/>
            <a:ext cx="13206412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12 historias de usuario cubren el ciclo completo de gestión de inventario, desde la administración de categorías hasta el monitoreo de stock crítico.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780103"/>
            <a:ext cx="791766" cy="373142"/>
          </a:xfrm>
          <a:prstGeom prst="roundRect">
            <a:avLst>
              <a:gd name="adj" fmla="val 17872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839635"/>
            <a:ext cx="55364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CIERRE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232541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Próximos Pasos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91446" y="3944064"/>
            <a:ext cx="3917513" cy="198358"/>
          </a:xfrm>
          <a:prstGeom prst="roundRect">
            <a:avLst>
              <a:gd name="adj" fmla="val 420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3790" y="3745587"/>
            <a:ext cx="595313" cy="595313"/>
          </a:xfrm>
          <a:prstGeom prst="roundRect">
            <a:avLst>
              <a:gd name="adj" fmla="val 7680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2618" y="3894415"/>
            <a:ext cx="297656" cy="2976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2148" y="4539258"/>
            <a:ext cx="359747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Implementar casos de prueba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992148" y="4968478"/>
            <a:ext cx="38185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Cubrir todos los criterios de aceptación de cada HU con tests automatizados, priorizando los casos límite (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422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paginación).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505093" y="3646408"/>
            <a:ext cx="3917633" cy="198358"/>
          </a:xfrm>
          <a:prstGeom prst="roundRect">
            <a:avLst>
              <a:gd name="adj" fmla="val 420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07437" y="3447931"/>
            <a:ext cx="595313" cy="595313"/>
          </a:xfrm>
          <a:prstGeom prst="roundRect">
            <a:avLst>
              <a:gd name="adj" fmla="val 7680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56265" y="3596759"/>
            <a:ext cx="297656" cy="2976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05795" y="4241602"/>
            <a:ext cx="381869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Validar integración entre módulos</a:t>
            </a:r>
            <a:endParaRPr lang="en-US" sz="1950" dirty="0"/>
          </a:p>
        </p:txBody>
      </p:sp>
      <p:sp>
        <p:nvSpPr>
          <p:cNvPr id="14" name="Text 10"/>
          <p:cNvSpPr/>
          <p:nvPr/>
        </p:nvSpPr>
        <p:spPr>
          <a:xfrm>
            <a:off x="5405795" y="4980980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Verificar el comportamiento al referenciar categorías inexistentes desde productos (HU-06, nota: </a:t>
            </a:r>
            <a:pPr algn="l" indent="0" marL="0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se valida existencia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9918859" y="3348752"/>
            <a:ext cx="3917513" cy="198358"/>
          </a:xfrm>
          <a:prstGeom prst="roundRect">
            <a:avLst>
              <a:gd name="adj" fmla="val 420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621203" y="3150275"/>
            <a:ext cx="595313" cy="595313"/>
          </a:xfrm>
          <a:prstGeom prst="roundRect">
            <a:avLst>
              <a:gd name="adj" fmla="val 7680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70031" y="3299103"/>
            <a:ext cx="297656" cy="2976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19561" y="3943945"/>
            <a:ext cx="381857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Explorar la documentación en </a:t>
            </a:r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/docs</a:t>
            </a:r>
            <a:endParaRPr lang="en-US" sz="1950" dirty="0"/>
          </a:p>
        </p:txBody>
      </p:sp>
      <p:sp>
        <p:nvSpPr>
          <p:cNvPr id="19" name="Text 14"/>
          <p:cNvSpPr/>
          <p:nvPr/>
        </p:nvSpPr>
        <p:spPr>
          <a:xfrm>
            <a:off x="9819561" y="4683323"/>
            <a:ext cx="38185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Utilizar Swagger UI para ejecutar manualmente cada endpoint y confirmar que los schemas generados coinciden con los criterios de aceptación.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2026-04-05T13:58:36Z</dcterms:created>
  <dcterms:modified xsi:type="dcterms:W3CDTF">2026-04-05T13:58:36Z</dcterms:modified>
</cp:coreProperties>
</file>