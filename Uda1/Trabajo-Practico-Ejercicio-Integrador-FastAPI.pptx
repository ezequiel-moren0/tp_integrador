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Inter"/>
      <p:regular r:id="rId17"/>
    </p:embeddedFont>
    <p:embeddedFont>
      <p:font typeface="Inter"/>
      <p:regular r:id="rId18"/>
    </p:embeddedFont>
    <p:embeddedFont>
      <p:font typeface="Inter"/>
      <p:regular r:id="rId19"/>
    </p:embeddedFont>
    <p:embeddedFont>
      <p:font typeface="Inter"/>
      <p:regular r:id="rId20"/>
    </p:embeddedFont>
    <p:embeddedFont>
      <p:font typeface="Inter"/>
      <p:regular r:id="rId21"/>
    </p:embeddedFont>
    <p:embeddedFont>
      <p:font typeface="Inter"/>
      <p:regular r:id="rId22"/>
    </p:embeddedFont>
    <p:embeddedFont>
      <p:font typeface="Inter"/>
      <p:regular r:id="rId23"/>
    </p:embeddedFont>
    <p:embeddedFont>
      <p:font typeface="Inter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lvSH70-MMEE" TargetMode="External"/><Relationship Id="rId2" Type="http://schemas.openxmlformats.org/officeDocument/2006/relationships/hyperlink" Target="https://github.com/profcarlosamartinez/fastapi_backend" TargetMode="Externa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slideLayout" Target="../slideLayouts/slideLayout4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slideLayout" Target="../slideLayouts/slideLayout9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slideLayout" Target="../slideLayouts/slideLayout10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11.xml"/><Relationship Id="rId10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397323"/>
            <a:ext cx="7556421" cy="12553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Trabajo Práctico – Ejercicio Integrador FastAPI </a:t>
            </a:r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🚀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6280190" y="3950375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esta actividad trabajaremos sobre una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 modular desarrollada con FastAPI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aplicando todos los conceptos vistos en la unidad: routers, services, modelos Pydantic, manejo de errores y documentación automática con Swagger.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6280190" y="5451396"/>
            <a:ext cx="1469588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6" name="Text 3"/>
          <p:cNvSpPr/>
          <p:nvPr/>
        </p:nvSpPr>
        <p:spPr>
          <a:xfrm>
            <a:off x="6399252" y="5510927"/>
            <a:ext cx="123146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UTN – UNIDAD 1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7848957" y="5443776"/>
            <a:ext cx="2148126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4950B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75640" y="5510927"/>
            <a:ext cx="189476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EJERCICIO INTEGRADOR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02406"/>
            <a:ext cx="72131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Recursos del Trabajo Práctico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1931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Antes de comenzar, asegurate de tener acceso a los materiales de referencia. El video explicativo recorre la estructura completa del proyecto y es el punto de partida recomendado.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977640"/>
            <a:ext cx="4215289" cy="2149435"/>
          </a:xfrm>
          <a:prstGeom prst="roundRect">
            <a:avLst>
              <a:gd name="adj" fmla="val 510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3977640"/>
            <a:ext cx="91440" cy="2149435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083588" y="4198858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🎥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Video Explicativo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4635698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U1.Video 7 – Ejercicio Integrador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Estructura modular + Routers + Services. Disponible en YouTube: </a:t>
            </a:r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youtu.be/lvSH70-MMEE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207437" y="3977640"/>
            <a:ext cx="4215408" cy="2149435"/>
          </a:xfrm>
          <a:prstGeom prst="roundRect">
            <a:avLst>
              <a:gd name="adj" fmla="val 510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184577" y="3977640"/>
            <a:ext cx="91440" cy="2149435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5497235" y="4198858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📌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Filmina del Video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97235" y="4635698"/>
            <a:ext cx="370439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Presentación utilizada como soporte visual durante el video explicativo. Descargable desde el aula virtual de la UTN (SIED).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9621203" y="3977640"/>
            <a:ext cx="4215289" cy="2149435"/>
          </a:xfrm>
          <a:prstGeom prst="roundRect">
            <a:avLst>
              <a:gd name="adj" fmla="val 5105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98343" y="3977640"/>
            <a:ext cx="91440" cy="2149435"/>
          </a:xfrm>
          <a:prstGeom prst="roundRect">
            <a:avLst>
              <a:gd name="adj" fmla="val 91163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9911001" y="4198858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📂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Repositorio Base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11001" y="4635698"/>
            <a:ext cx="370427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fuente oficial en GitHub: </a:t>
            </a:r>
            <a:pPr algn="l" indent="0" marL="0">
              <a:lnSpc>
                <a:spcPts val="2500"/>
              </a:lnSpc>
              <a:buNone/>
            </a:pPr>
            <a:r>
              <a:rPr lang="en-US" sz="1550" u="sng" dirty="0">
                <a:solidFill>
                  <a:srgbClr val="4950BC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profcarlosamartinez/fastapi_backend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El proyecto se encuentra en la carpeta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u1_ej_8_integrador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909637"/>
            <a:ext cx="619732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 del Proyecto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1827371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proyecto sigue una arquitectura modular por capas. Comprender este flujo es fundamental antes de agregar cualquier funcionalidad nueva.</a:t>
            </a:r>
            <a:endParaRPr lang="en-US" sz="15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790" y="2685693"/>
            <a:ext cx="7556421" cy="3458289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12606" y="3549135"/>
            <a:ext cx="485838" cy="48583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579755" y="5322747"/>
            <a:ext cx="1418646" cy="273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Respuesta</a:t>
            </a:r>
            <a:endParaRPr lang="en-US" sz="17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33983" y="3550046"/>
            <a:ext cx="485838" cy="485838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4791871" y="5322747"/>
            <a:ext cx="1418647" cy="273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Servicio</a:t>
            </a:r>
            <a:endParaRPr lang="en-US" sz="17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455817" y="3550046"/>
            <a:ext cx="485838" cy="485838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3013704" y="5322747"/>
            <a:ext cx="1418647" cy="273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Router</a:t>
            </a:r>
            <a:endParaRPr lang="en-US" sz="17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667933" y="3550046"/>
            <a:ext cx="485838" cy="48583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1196670" y="5322747"/>
            <a:ext cx="1418647" cy="273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50"/>
              </a:lnSpc>
              <a:buNone/>
            </a:pPr>
            <a:r>
              <a:rPr lang="en-US" sz="17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</a:t>
            </a:r>
            <a:endParaRPr lang="en-US" sz="1700" dirty="0"/>
          </a:p>
        </p:txBody>
      </p:sp>
      <p:sp>
        <p:nvSpPr>
          <p:cNvPr id="14" name="Text 6"/>
          <p:cNvSpPr/>
          <p:nvPr/>
        </p:nvSpPr>
        <p:spPr>
          <a:xfrm>
            <a:off x="793790" y="6367224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capa tiene una responsabilidad clara y bien delimitada. El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recibe las solicitudes HTTP, el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procesa la lógica de negocio y los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Pydantic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garantizan la validación automática de datos.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70253"/>
            <a:ext cx="769739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129784"/>
            <a:ext cx="53161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522690"/>
            <a:ext cx="554593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Probar el Sistema Base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44042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primer paso es clonar el repositorio, levantar el servidor y verificar que todos los endpoints funcionan correctamente antes de agregar código propio.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29874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3613071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793790" y="37579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Clonar el repositorio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93790" y="4187190"/>
            <a:ext cx="64222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Ejecutar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https://github.com/profcarlosamartinez/fastapi_backend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navegar a la carpeta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u1_ej_8_integrador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414379" y="3298746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414379" y="3613071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2" name="Text 10"/>
          <p:cNvSpPr/>
          <p:nvPr/>
        </p:nvSpPr>
        <p:spPr>
          <a:xfrm>
            <a:off x="7414379" y="3757970"/>
            <a:ext cx="268700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Instalar dependencias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414379" y="418719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un entorno virtual y ejecutar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instalar FastAPI, Uvicorn y demás librerías necesarias.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793790" y="54869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93790" y="5801320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6" name="Text 14"/>
          <p:cNvSpPr/>
          <p:nvPr/>
        </p:nvSpPr>
        <p:spPr>
          <a:xfrm>
            <a:off x="793790" y="594621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Ejecutar el servidor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93790" y="637544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Levantar la aplicación con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uvicorn main:app --reload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El flag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--reload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activa el reinicio automático ante cambios en el código.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414379" y="5486995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414379" y="5801320"/>
            <a:ext cx="6422231" cy="2286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7414379" y="5946219"/>
            <a:ext cx="38835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Probar en Swagger y Rest Client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414379" y="637544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Acceder a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http://127.0.0.1:8000/docs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explorar los endpoints con la interfaz interactiva de Swagger UI.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58729"/>
            <a:ext cx="802005" cy="373142"/>
          </a:xfrm>
          <a:prstGeom prst="roundRect">
            <a:avLst>
              <a:gd name="adj" fmla="val 17872"/>
            </a:avLst>
          </a:prstGeom>
          <a:solidFill>
            <a:srgbClr val="DADBF1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318260"/>
            <a:ext cx="56388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PASO 2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711166"/>
            <a:ext cx="715303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Agregar Nueva Funcionalidad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62890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Una vez validado el sistema base, es momento de extender la API incorporando un nuevo módulo propio. La elección del dominio es libre: podés trabajar con clientes, ventas, proveedores u otro conjunto de datos relevante.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487222"/>
            <a:ext cx="6422231" cy="1483876"/>
          </a:xfrm>
          <a:prstGeom prst="roundRect">
            <a:avLst>
              <a:gd name="adj" fmla="val 56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99768" y="3693200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🗂️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Nuevo Módulo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9768" y="4130040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Crear la estructura de archivos para el nuevo dominio: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service.py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dentro de su propia carpeta.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3487222"/>
            <a:ext cx="6422231" cy="1483876"/>
          </a:xfrm>
          <a:prstGeom prst="roundRect">
            <a:avLst>
              <a:gd name="adj" fmla="val 5618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20357" y="3693200"/>
            <a:ext cx="253305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🔍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Filtros Avanzados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20357" y="4130040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Agregar parámetros de query (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?nombre=&amp;precio_min=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para permitir búsquedas y filtrados flexibles sobre los recursos.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793790" y="5169456"/>
            <a:ext cx="6422231" cy="1801416"/>
          </a:xfrm>
          <a:prstGeom prst="roundRect">
            <a:avLst>
              <a:gd name="adj" fmla="val 462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99768" y="5375434"/>
            <a:ext cx="2614374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⚙️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Reglas de Negocio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99768" y="5812274"/>
            <a:ext cx="60102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Incorporar lógica en la capa 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service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validaciones de stock, cálculos de descuento, reglas de acceso, etc.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5169456"/>
            <a:ext cx="6422231" cy="1801416"/>
          </a:xfrm>
          <a:prstGeom prst="roundRect">
            <a:avLst>
              <a:gd name="adj" fmla="val 4627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20357" y="5375434"/>
            <a:ext cx="2480905" cy="3177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🛡️</a:t>
            </a:r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Validaciones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620357" y="5812274"/>
            <a:ext cx="60102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Definir modelos Pydantic con restricciones (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Field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validator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tipos estrictos) para garantizar la integridad de los datos recibidos.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91070"/>
            <a:ext cx="794230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Requisitos Técnicos Obligatorios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0798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solución entregada debe cumplir con los siguientes requisitos de diseño y calidad de código. Estos criterios serán evaluados durante la corrección.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650915" y="3766304"/>
            <a:ext cx="6565106" cy="2572226"/>
          </a:xfrm>
          <a:prstGeom prst="roundRect">
            <a:avLst>
              <a:gd name="adj" fmla="val 5556"/>
            </a:avLst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849273" y="39646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Arquitectura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849273" y="4473178"/>
            <a:ext cx="6168390" cy="1795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Separación estricta entre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router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Modelos Pydantic correctamente definidos para request y response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Registro del nuevo router en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highlight>
                  <a:srgbClr val="565DC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Estructura de carpetas modular y consistente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96466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Endpoints y Errores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4473178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Códigos HTTP adecuados (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Uso de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HTTPException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errores controlados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response_model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declarado en cada endpoint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limpio, sin lógica de negocio en el router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6734" y="549950"/>
            <a:ext cx="7603331" cy="12037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Manejo de Errores con HTTPException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6256734" y="2033945"/>
            <a:ext cx="7603331" cy="6148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facilita el manejo de errores HTTP mediante 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HTTPException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Es fundamental cubrir al menos dos escenarios de error en la entrega.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256734" y="3147774"/>
            <a:ext cx="7603331" cy="2035731"/>
          </a:xfrm>
          <a:prstGeom prst="roundRect">
            <a:avLst>
              <a:gd name="adj" fmla="val 5390"/>
            </a:avLst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6256734" y="3124914"/>
            <a:ext cx="7603331" cy="91440"/>
          </a:xfrm>
          <a:prstGeom prst="roundRect">
            <a:avLst>
              <a:gd name="adj" fmla="val 88460"/>
            </a:avLst>
          </a:prstGeom>
          <a:solidFill>
            <a:srgbClr val="4950BC"/>
          </a:solidFill>
          <a:ln/>
        </p:spPr>
      </p:sp>
      <p:sp>
        <p:nvSpPr>
          <p:cNvPr id="7" name="Shape 4"/>
          <p:cNvSpPr/>
          <p:nvPr/>
        </p:nvSpPr>
        <p:spPr>
          <a:xfrm>
            <a:off x="9769554" y="2858929"/>
            <a:ext cx="577691" cy="577691"/>
          </a:xfrm>
          <a:prstGeom prst="roundRect">
            <a:avLst>
              <a:gd name="adj" fmla="val 158285"/>
            </a:avLst>
          </a:prstGeom>
          <a:solidFill>
            <a:srgbClr val="4950B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42790" y="3032165"/>
            <a:ext cx="231100" cy="2311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72118" y="3629144"/>
            <a:ext cx="2571869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 404 – Not Found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6472118" y="4042053"/>
            <a:ext cx="7172563" cy="926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 usa cuando el recurso solicitado no existe. Por ejemplo, buscar un cliente por ID que no está en la base de datos. Lanzar con 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raise HTTPException(status_code=404, detail="Cliente no encontrado")</a:t>
            </a:r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256734" y="5659160"/>
            <a:ext cx="7603331" cy="2020491"/>
          </a:xfrm>
          <a:prstGeom prst="roundRect">
            <a:avLst>
              <a:gd name="adj" fmla="val 5431"/>
            </a:avLst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6256734" y="5636300"/>
            <a:ext cx="7603331" cy="91440"/>
          </a:xfrm>
          <a:prstGeom prst="roundRect">
            <a:avLst>
              <a:gd name="adj" fmla="val 88460"/>
            </a:avLst>
          </a:prstGeom>
          <a:solidFill>
            <a:srgbClr val="4950BC"/>
          </a:solidFill>
          <a:ln/>
        </p:spPr>
      </p:sp>
      <p:sp>
        <p:nvSpPr>
          <p:cNvPr id="13" name="Shape 9"/>
          <p:cNvSpPr/>
          <p:nvPr/>
        </p:nvSpPr>
        <p:spPr>
          <a:xfrm>
            <a:off x="9769554" y="5370314"/>
            <a:ext cx="577691" cy="577691"/>
          </a:xfrm>
          <a:prstGeom prst="roundRect">
            <a:avLst>
              <a:gd name="adj" fmla="val 158285"/>
            </a:avLst>
          </a:prstGeom>
          <a:solidFill>
            <a:srgbClr val="4950B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942790" y="5543550"/>
            <a:ext cx="231100" cy="2311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72118" y="6140529"/>
            <a:ext cx="3857030" cy="300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Error 422 – Unprocessable Entity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6472118" y="6553438"/>
            <a:ext cx="7172563" cy="910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50"/>
              </a:lnSpc>
              <a:buNone/>
            </a:pPr>
            <a:r>
              <a:rPr lang="en-US" sz="15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lo genera automáticamente cuando los datos del request no pasan la validación Pydantic. También puede lanzarse manualmente ante reglas de negocio no satisfechas.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73235"/>
            <a:ext cx="709850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Debe Incluir la Entrega?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9014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entrega se realiza en un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único archivo PDF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documente el trabajo realizado. El PDF actúa como informe técnico del desarrollo.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68204" y="3637002"/>
            <a:ext cx="297656" cy="2976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8632" y="3630930"/>
            <a:ext cx="381059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Descripción de la funcionalidad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438632" y="4060150"/>
            <a:ext cx="575250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Explicación breve del módulo creado: qué representa, qué endpoints expone y qué reglas de negocio implementa.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13558" y="3637002"/>
            <a:ext cx="297656" cy="2976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083987" y="3630930"/>
            <a:ext cx="260985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Capturas de Swagger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8083987" y="4060150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Pantallazos mostrando todos los nuevos endpoints registrados y expandidos en la interfaz de Swagger UI.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8204" y="5098137"/>
            <a:ext cx="297656" cy="2976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38632" y="5092065"/>
            <a:ext cx="385679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Ejemplos de request y response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438632" y="5521285"/>
            <a:ext cx="575250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 menos un caso exitoso (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200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201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y un caso de error (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404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422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 con el JSON completo de request y response.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13558" y="5098137"/>
            <a:ext cx="297656" cy="2976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83987" y="5092065"/>
            <a:ext cx="33572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Enlace al repositorio GitHub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8083987" y="5521285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repositorio debe estar público, con estructura modular correcta, código organizado y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actualizado.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72414"/>
            <a:ext cx="808863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Requisitos del Repositorio GitHub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8932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repositorio es parte fundamental de la entrega. Un repositorio bien organizado demuestra buenas prácticas de desarrollo.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730109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7930" y="3730109"/>
            <a:ext cx="343804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Estructura Modular Correcta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537930" y="4469487"/>
            <a:ext cx="343804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Cada dominio en su propia carpeta con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router.py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service.py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schemas.py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El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main.py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solo monta los routers.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3986" y="3730109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68127" y="3730109"/>
            <a:ext cx="340566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Código Limpio y Organizado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968127" y="4159329"/>
            <a:ext cx="343816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Nombres descriptivos, sin código comentado innecesario, funciones con responsabilidad única y sin duplicación de lógica entre capas.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4302" y="3730109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98443" y="3730109"/>
            <a:ext cx="343816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requirements.txt Actualizado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0398443" y="4469487"/>
            <a:ext cx="343816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Todas las dependencias del proyecto deben estar listadas. Generarlo con 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pip freeze &gt; requirements.txt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antes de hacer el último commit.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136838" y="1304330"/>
            <a:ext cx="6874669" cy="515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Consejo Final antes de Entregar </a:t>
            </a:r>
            <a:pPr algn="l" indent="0" marL="0">
              <a:lnSpc>
                <a:spcPts val="4000"/>
              </a:lnSpc>
              <a:buNone/>
            </a:pPr>
            <a:r>
              <a:rPr lang="en-US" sz="3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⚡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136838" y="2019895"/>
            <a:ext cx="3854887" cy="2005251"/>
          </a:xfrm>
          <a:prstGeom prst="roundRect">
            <a:avLst>
              <a:gd name="adj" fmla="val 34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306979" y="2190036"/>
            <a:ext cx="487799" cy="487799"/>
          </a:xfrm>
          <a:prstGeom prst="roundRect">
            <a:avLst>
              <a:gd name="adj" fmla="val 18743551"/>
            </a:avLst>
          </a:prstGeom>
          <a:solidFill>
            <a:srgbClr val="4950B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41043" y="2324100"/>
            <a:ext cx="219551" cy="21955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306979" y="2811066"/>
            <a:ext cx="2032873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Probá casos válidos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306979" y="3144917"/>
            <a:ext cx="3514606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Verificá que todos los endpoints retornan el status code correcto y el JSON esperado con datos correctos.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10124956" y="2019895"/>
            <a:ext cx="3855006" cy="2005251"/>
          </a:xfrm>
          <a:prstGeom prst="roundRect">
            <a:avLst>
              <a:gd name="adj" fmla="val 340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295096" y="2190036"/>
            <a:ext cx="487799" cy="487799"/>
          </a:xfrm>
          <a:prstGeom prst="roundRect">
            <a:avLst>
              <a:gd name="adj" fmla="val 18743551"/>
            </a:avLst>
          </a:prstGeom>
          <a:solidFill>
            <a:srgbClr val="4950BC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429161" y="2324100"/>
            <a:ext cx="219551" cy="21955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295096" y="2811066"/>
            <a:ext cx="2161937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Probá casos inválidos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10295096" y="3144917"/>
            <a:ext cx="3514725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Enviá IDs inexistentes, campos faltantes o datos con formato incorrecto para verificar que los errores se manejan correctamente.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136838" y="4158377"/>
            <a:ext cx="7843123" cy="1768554"/>
          </a:xfrm>
          <a:prstGeom prst="roundRect">
            <a:avLst>
              <a:gd name="adj" fmla="val 3862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306979" y="4328517"/>
            <a:ext cx="487799" cy="487799"/>
          </a:xfrm>
          <a:prstGeom prst="roundRect">
            <a:avLst>
              <a:gd name="adj" fmla="val 18743551"/>
            </a:avLst>
          </a:prstGeom>
          <a:solidFill>
            <a:srgbClr val="4950BC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41043" y="4462582"/>
            <a:ext cx="219551" cy="21955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6979" y="4949547"/>
            <a:ext cx="2282309" cy="253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Actualizá el repositorio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6306979" y="5283398"/>
            <a:ext cx="750284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Hacé el commit final con todo el código completo y verificá que el enlace del PDF apunta al repositorio correcto y accesible.</a:t>
            </a:r>
            <a:endParaRPr lang="en-US" sz="1250" dirty="0"/>
          </a:p>
        </p:txBody>
      </p:sp>
      <p:sp>
        <p:nvSpPr>
          <p:cNvPr id="19" name="Shape 13"/>
          <p:cNvSpPr/>
          <p:nvPr/>
        </p:nvSpPr>
        <p:spPr>
          <a:xfrm>
            <a:off x="6136838" y="6076831"/>
            <a:ext cx="7843123" cy="848320"/>
          </a:xfrm>
          <a:prstGeom prst="roundRect">
            <a:avLst>
              <a:gd name="adj" fmla="val 8052"/>
            </a:avLst>
          </a:prstGeom>
          <a:solidFill>
            <a:srgbClr val="C7C9EA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99359" y="6312932"/>
            <a:ext cx="203240" cy="16252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665119" y="6250662"/>
            <a:ext cx="7152323" cy="4733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⚠️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pPr algn="l" indent="0" marL="0">
              <a:lnSpc>
                <a:spcPts val="18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Recordá:</a:t>
            </a:r>
            <a:pPr algn="l" indent="0" marL="0">
              <a:lnSpc>
                <a:spcPts val="185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La entrega se realiza en un único archivo PDF. Sin el enlace al repositorio o sin las capturas de Swagger, la entrega estará incompleta.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2026-04-05T13:51:23Z</dcterms:created>
  <dcterms:modified xsi:type="dcterms:W3CDTF">2026-04-05T13:51:23Z</dcterms:modified>
</cp:coreProperties>
</file>